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191612"/>
          </a:solidFill>
          <a:ln/>
        </p:spPr>
      </p:sp>
      <p:sp>
        <p:nvSpPr>
          <p:cNvPr id="21" name="Shape 19"/>
          <p:cNvSpPr/>
          <p:nvPr/>
        </p:nvSpPr>
        <p:spPr>
          <a:xfrm>
            <a:off x="8394192" y="804672"/>
            <a:ext cx="91440" cy="91440"/>
          </a:xfrm>
          <a:prstGeom prst="ellipse">
            <a:avLst/>
          </a:prstGeom>
          <a:solidFill>
            <a:srgbClr val="5A7BBF"/>
          </a:solidFill>
          <a:ln/>
        </p:spPr>
      </p:sp>
      <p:sp>
        <p:nvSpPr>
          <p:cNvPr id="22" name="Text 20"/>
          <p:cNvSpPr/>
          <p:nvPr/>
        </p:nvSpPr>
        <p:spPr>
          <a:xfrm>
            <a:off x="8522208" y="772668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8394192" y="1371600"/>
            <a:ext cx="91440" cy="91440"/>
          </a:xfrm>
          <a:prstGeom prst="ellipse">
            <a:avLst/>
          </a:prstGeom>
          <a:solidFill>
            <a:srgbClr val="A0673A"/>
          </a:solidFill>
          <a:ln/>
        </p:spPr>
      </p:sp>
      <p:sp>
        <p:nvSpPr>
          <p:cNvPr id="24" name="Text 22"/>
          <p:cNvSpPr/>
          <p:nvPr/>
        </p:nvSpPr>
        <p:spPr>
          <a:xfrm>
            <a:off x="8522208" y="1339596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8394192" y="1938528"/>
            <a:ext cx="91440" cy="9144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26" name="Text 24"/>
          <p:cNvSpPr/>
          <p:nvPr/>
        </p:nvSpPr>
        <p:spPr>
          <a:xfrm>
            <a:off x="8522208" y="1906524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8394192" y="2505456"/>
            <a:ext cx="91440" cy="91440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28" name="Text 26"/>
          <p:cNvSpPr/>
          <p:nvPr/>
        </p:nvSpPr>
        <p:spPr>
          <a:xfrm>
            <a:off x="8522208" y="2473452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8394192" y="3072384"/>
            <a:ext cx="91440" cy="91440"/>
          </a:xfrm>
          <a:prstGeom prst="ellipse">
            <a:avLst/>
          </a:prstGeom>
          <a:solidFill>
            <a:srgbClr val="BF5A5A"/>
          </a:solidFill>
          <a:ln/>
        </p:spPr>
      </p:sp>
      <p:sp>
        <p:nvSpPr>
          <p:cNvPr id="30" name="Text 28"/>
          <p:cNvSpPr/>
          <p:nvPr/>
        </p:nvSpPr>
        <p:spPr>
          <a:xfrm>
            <a:off x="8522208" y="3040380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8394192" y="3639312"/>
            <a:ext cx="91440" cy="91440"/>
          </a:xfrm>
          <a:prstGeom prst="ellipse">
            <a:avLst/>
          </a:prstGeom>
          <a:solidFill>
            <a:srgbClr val="4E7A4E"/>
          </a:solidFill>
          <a:ln/>
        </p:spPr>
      </p:sp>
      <p:sp>
        <p:nvSpPr>
          <p:cNvPr id="32" name="Text 30"/>
          <p:cNvSpPr/>
          <p:nvPr/>
        </p:nvSpPr>
        <p:spPr>
          <a:xfrm>
            <a:off x="8522208" y="3607308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8394192" y="4206240"/>
            <a:ext cx="91440" cy="91440"/>
          </a:xfrm>
          <a:prstGeom prst="ellipse">
            <a:avLst/>
          </a:prstGeom>
          <a:solidFill>
            <a:srgbClr val="7A6A8A"/>
          </a:solidFill>
          <a:ln/>
        </p:spPr>
      </p:sp>
      <p:sp>
        <p:nvSpPr>
          <p:cNvPr id="34" name="Text 32"/>
          <p:cNvSpPr/>
          <p:nvPr/>
        </p:nvSpPr>
        <p:spPr>
          <a:xfrm>
            <a:off x="8522208" y="4174236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594360" y="1417320"/>
            <a:ext cx="36576" cy="2011680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138074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0" kern="0" dirty="0">
                <a:solidFill>
                  <a:srgbClr val="BF9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DE MARCA PESSOAL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77240" y="169164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Versão</a:t>
            </a:r>
            <a:endParaRPr lang="en-US" sz="6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Compacta</a:t>
            </a:r>
            <a:endParaRPr lang="en-US" sz="6200" dirty="0"/>
          </a:p>
        </p:txBody>
      </p:sp>
      <p:sp>
        <p:nvSpPr>
          <p:cNvPr id="38" name="Text 36"/>
          <p:cNvSpPr/>
          <p:nvPr/>
        </p:nvSpPr>
        <p:spPr>
          <a:xfrm>
            <a:off x="777240" y="32461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seções · 25 perguntas · da origem ao legado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94360" y="4645152"/>
            <a:ext cx="7132320" cy="0"/>
          </a:xfrm>
          <a:prstGeom prst="line">
            <a:avLst/>
          </a:prstGeom>
          <a:noFill/>
          <a:ln w="6350">
            <a:solidFill>
              <a:srgbClr val="BF9B5A">
                <a:alpha val="6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71830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" kern="0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Partida  ·  Origem  ·  Trajetória  ·  Produto  ·  Crenças  ·  ICP &amp; Objeções  ·  Voz &amp; Legado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-54864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FFFFFF">
                    <a:alpha val="6000"/>
                  </a:srgbClr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01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66928" y="1993392"/>
            <a:ext cx="109728" cy="109728"/>
          </a:xfrm>
          <a:prstGeom prst="ellipse">
            <a:avLst/>
          </a:prstGeom>
          <a:solidFill>
            <a:srgbClr val="5A7BBF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2121408"/>
            <a:ext cx="36576" cy="777240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2057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A7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Ponto de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Partida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86384" y="309067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Calibrar o ponto zero: o que existe hoje, o que é esperado, e qual é a definição real de sucesso.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300" kern="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PARTIDA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347472" y="566928"/>
            <a:ext cx="4133088" cy="4315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566928"/>
            <a:ext cx="4133088" cy="36576"/>
          </a:xfrm>
          <a:prstGeom prst="rect">
            <a:avLst/>
          </a:prstGeom>
          <a:solidFill>
            <a:srgbClr val="5A7BB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768096"/>
            <a:ext cx="256032" cy="256032"/>
          </a:xfrm>
          <a:prstGeom prst="ellipse">
            <a:avLst/>
          </a:prstGeom>
          <a:solidFill>
            <a:srgbClr val="5A7BB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768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8640" y="1133856"/>
            <a:ext cx="3730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C282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Qual é a sua experiência com o digital hoje — e o que tornaria esse processo um sucesso real para você?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3730752" cy="0"/>
          </a:xfrm>
          <a:prstGeom prst="line">
            <a:avLst/>
          </a:prstGeom>
          <a:noFill/>
          <a:ln w="9525">
            <a:solidFill>
              <a:srgbClr val="D8D2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15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5A7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EXPLORAR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3730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Mapeie o nível atual: plataformas que usa, tentativas anteriores, traumas de conteúdo. A familiaridade ou resistência ao digital define o ritmo inicial do projeto — e o que precisa ser trabalhado antes de começar a produzir.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64608" y="566928"/>
            <a:ext cx="4133088" cy="4315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64608" y="566928"/>
            <a:ext cx="4133088" cy="36576"/>
          </a:xfrm>
          <a:prstGeom prst="rect">
            <a:avLst/>
          </a:prstGeom>
          <a:solidFill>
            <a:srgbClr val="5A7BBF"/>
          </a:solidFill>
          <a:ln/>
        </p:spPr>
      </p:sp>
      <p:sp>
        <p:nvSpPr>
          <p:cNvPr id="14" name="Shape 12"/>
          <p:cNvSpPr/>
          <p:nvPr/>
        </p:nvSpPr>
        <p:spPr>
          <a:xfrm>
            <a:off x="5065776" y="768096"/>
            <a:ext cx="256032" cy="256032"/>
          </a:xfrm>
          <a:prstGeom prst="ellipse">
            <a:avLst/>
          </a:prstGeom>
          <a:solidFill>
            <a:srgbClr val="5A7BBF"/>
          </a:solidFill>
          <a:ln/>
        </p:spPr>
      </p:sp>
      <p:sp>
        <p:nvSpPr>
          <p:cNvPr id="15" name="Text 13"/>
          <p:cNvSpPr/>
          <p:nvPr/>
        </p:nvSpPr>
        <p:spPr>
          <a:xfrm>
            <a:off x="5065776" y="768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65776" y="1133856"/>
            <a:ext cx="3730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C282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Qual é o seu principal objetivo com a marca pessoal — e o que seria uma vitória concreta em 90 dias?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65776" y="2487168"/>
            <a:ext cx="3730752" cy="0"/>
          </a:xfrm>
          <a:prstGeom prst="line">
            <a:avLst/>
          </a:prstGeom>
          <a:noFill/>
          <a:ln w="9525">
            <a:solidFill>
              <a:srgbClr val="D8D2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65776" y="2615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5A7B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EXPLORAR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5065776" y="2834640"/>
            <a:ext cx="3730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 além de 'quero mais seguidores'. Explore o resultado de negócio real: convite de palestra, leads qualificados, reconhecimento de pares, transição de carreira. A resposta honesta aqui calibra tudo — pilares, tom, mix de conteúdo, frequência.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-54864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FFFFFF">
                    <a:alpha val="6000"/>
                  </a:srgbClr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02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66928" y="1993392"/>
            <a:ext cx="109728" cy="109728"/>
          </a:xfrm>
          <a:prstGeom prst="ellipse">
            <a:avLst/>
          </a:prstGeom>
          <a:solidFill>
            <a:srgbClr val="A0673A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2121408"/>
            <a:ext cx="36576" cy="777240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2057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A0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Origem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Identidade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86384" y="309067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história de origem é a matéria-prima mais rara da marca pessoal. Ninguém pode copiar quem você é.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300" kern="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347472" y="566928"/>
            <a:ext cx="4133088" cy="4315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566928"/>
            <a:ext cx="4133088" cy="36576"/>
          </a:xfrm>
          <a:prstGeom prst="rect">
            <a:avLst/>
          </a:prstGeom>
          <a:solidFill>
            <a:srgbClr val="A0673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768096"/>
            <a:ext cx="256032" cy="256032"/>
          </a:xfrm>
          <a:prstGeom prst="ellipse">
            <a:avLst/>
          </a:prstGeom>
          <a:solidFill>
            <a:srgbClr val="A0673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768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Q03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8640" y="1133856"/>
            <a:ext cx="3730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C282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Teve algum momento de ruptura — uma perda, uma virada, uma decisão difícil — que mudou a direção de tudo?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3730752" cy="0"/>
          </a:xfrm>
          <a:prstGeom prst="line">
            <a:avLst/>
          </a:prstGeom>
          <a:noFill/>
          <a:ln w="9525">
            <a:solidFill>
              <a:srgbClr val="D8D2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15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A0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EXPLORAR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3730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momento de ruptura é o coração da jornada do herói. Não precisa ser dramático — pode ser uma demissão, uma crise de saúde, uma conversa que não saiu da cabeça. Esse episódio costuma ser o post de maior engajamento da carreira.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64608" y="566928"/>
            <a:ext cx="4133088" cy="4315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64608" y="566928"/>
            <a:ext cx="4133088" cy="36576"/>
          </a:xfrm>
          <a:prstGeom prst="rect">
            <a:avLst/>
          </a:prstGeom>
          <a:solidFill>
            <a:srgbClr val="A0673A"/>
          </a:solidFill>
          <a:ln/>
        </p:spPr>
      </p:sp>
      <p:sp>
        <p:nvSpPr>
          <p:cNvPr id="14" name="Shape 12"/>
          <p:cNvSpPr/>
          <p:nvPr/>
        </p:nvSpPr>
        <p:spPr>
          <a:xfrm>
            <a:off x="5065776" y="768096"/>
            <a:ext cx="256032" cy="256032"/>
          </a:xfrm>
          <a:prstGeom prst="ellipse">
            <a:avLst/>
          </a:prstGeom>
          <a:solidFill>
            <a:srgbClr val="A067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65776" y="768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Q04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65776" y="1133856"/>
            <a:ext cx="3730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C282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Como as pessoas que convivem com você descrevem sua personalidade? E como você se descreveria?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65776" y="2487168"/>
            <a:ext cx="3730752" cy="0"/>
          </a:xfrm>
          <a:prstGeom prst="line">
            <a:avLst/>
          </a:prstGeom>
          <a:noFill/>
          <a:ln w="9525">
            <a:solidFill>
              <a:srgbClr val="D8D2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65776" y="2615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A0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EXPLORAR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5065776" y="2834640"/>
            <a:ext cx="3730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gap entre como os outros te enxergam e como você se vê é frequentemente onde mora o diferencial de marca mais autêntico. 'Todos dizem que sou direto demais, eu acho que sou apenas honesto.' Essa tensão é posicionamento.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300" kern="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347472" y="301752"/>
            <a:ext cx="256032" cy="256032"/>
          </a:xfrm>
          <a:prstGeom prst="ellipse">
            <a:avLst/>
          </a:prstGeom>
          <a:solidFill>
            <a:srgbClr val="A0673A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301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84048" y="749808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2C282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 que você fazia antes que ninguém valorizava — e que hoje é reconhecido como seu diferencial?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84048" y="2359152"/>
            <a:ext cx="8321040" cy="0"/>
          </a:xfrm>
          <a:prstGeom prst="line">
            <a:avLst/>
          </a:prstGeom>
          <a:noFill/>
          <a:ln w="9525">
            <a:solidFill>
              <a:srgbClr val="D8D2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24871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A06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EXPLORAR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724912"/>
            <a:ext cx="8321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competência desenvolvida por paixão ou necessidade, antes de qualquer estratégia de mercado. O período em que algo foi ignorado e depois valorizado é a prova de que o diferencial é real, não construído para aparecer. Revela a habilidade mais genuína.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84048" y="4041648"/>
            <a:ext cx="8321040" cy="713232"/>
          </a:xfrm>
          <a:prstGeom prst="rect">
            <a:avLst/>
          </a:prstGeom>
          <a:solidFill>
            <a:srgbClr val="EFECE6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4041648"/>
            <a:ext cx="36576" cy="713232"/>
          </a:xfrm>
          <a:prstGeom prst="rect">
            <a:avLst/>
          </a:prstGeom>
          <a:solidFill>
            <a:srgbClr val="A0673A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4133088"/>
            <a:ext cx="7973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Pergunte: 'Em qual momento alguém olhou para o que você fazia e disse: nossa, como você sabe isso?' A reação de surpresa do outro é o dado mais útil aqui.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-54864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FFFFFF">
                    <a:alpha val="6000"/>
                  </a:srgbClr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03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66928" y="1993392"/>
            <a:ext cx="109728" cy="109728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2121408"/>
            <a:ext cx="36576" cy="777240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2057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Trajetória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Profissional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86384" y="309067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marcos de carreira, as viradas de aprendizado e as conquistas que constroem autoridade legítima.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300" kern="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TRAJETÓRIA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347472" y="566928"/>
            <a:ext cx="4133088" cy="4315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566928"/>
            <a:ext cx="4133088" cy="36576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768096"/>
            <a:ext cx="256032" cy="256032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768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8640" y="1133856"/>
            <a:ext cx="3730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C282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Como você chegou até essa área de atuação? Foi uma escolha deliberada ou aconteceu por acaso?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3730752" cy="0"/>
          </a:xfrm>
          <a:prstGeom prst="line">
            <a:avLst/>
          </a:prstGeom>
          <a:noFill/>
          <a:ln w="9525">
            <a:solidFill>
              <a:srgbClr val="D8D2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15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EXPLORAR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3730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Escute os marcos da trajetória como uma história — com começo, meio e estado atual. Os detalhes que a pessoa escolhe destacar revelam o que ela valoriza. Peça para contar em ordem cronológica: onde estava, o que mudou, o que aprendeu.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64608" y="566928"/>
            <a:ext cx="4133088" cy="4315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64608" y="566928"/>
            <a:ext cx="4133088" cy="36576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14" name="Shape 12"/>
          <p:cNvSpPr/>
          <p:nvPr/>
        </p:nvSpPr>
        <p:spPr>
          <a:xfrm>
            <a:off x="5065776" y="768096"/>
            <a:ext cx="256032" cy="256032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15" name="Text 13"/>
          <p:cNvSpPr/>
          <p:nvPr/>
        </p:nvSpPr>
        <p:spPr>
          <a:xfrm>
            <a:off x="5065776" y="768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Q07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65776" y="1133856"/>
            <a:ext cx="3730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C282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Qual foi o maior erro profissional que cometeu — e o que ele te ensinou?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65776" y="2487168"/>
            <a:ext cx="3730752" cy="0"/>
          </a:xfrm>
          <a:prstGeom prst="line">
            <a:avLst/>
          </a:prstGeom>
          <a:noFill/>
          <a:ln w="9525">
            <a:solidFill>
              <a:srgbClr val="D8D2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65776" y="2615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EXPLORAR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5065776" y="2834640"/>
            <a:ext cx="3730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bem contados constroem mais autoridade do que conquistas bem contadas. O mercado confia em quem já errou, aprendeu e voltou mais forte. Cada erro é um capítulo de conteúdo que nenhum concorrente vai ter — porque é exclusivamente seu.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300" kern="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TRAJETÓRIA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347472" y="301752"/>
            <a:ext cx="256032" cy="256032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301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84048" y="749808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2C282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Qual foi a conquista profissional que mais te orgulha — não a mais famosa, mas a mais significativa para você?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84048" y="2359152"/>
            <a:ext cx="8321040" cy="0"/>
          </a:xfrm>
          <a:prstGeom prst="line">
            <a:avLst/>
          </a:prstGeom>
          <a:noFill/>
          <a:ln w="9525">
            <a:solidFill>
              <a:srgbClr val="D8D2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24871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EXPLORAR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724912"/>
            <a:ext cx="8321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distinção entre 'mais famosa' e 'mais significativa' é crucial. A conquista mais significativa costuma ser desconhecida publicamente mas revela o caráter e os valores reais da pessoa. É material de altíssimo valor para marca pessoal autêntica — e raramente está no currículo.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84048" y="4041648"/>
            <a:ext cx="8321040" cy="713232"/>
          </a:xfrm>
          <a:prstGeom prst="rect">
            <a:avLst/>
          </a:prstGeom>
          <a:solidFill>
            <a:srgbClr val="EFECE6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4041648"/>
            <a:ext cx="36576" cy="7132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4133088"/>
            <a:ext cx="7973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Se a pessoa hesitar, pergunte: 'Qual conquista, se alguém a reconhecesse, faria você sentir que foi realmente visto?' Essa resposta muda tudo.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-54864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FFFFFF">
                    <a:alpha val="6000"/>
                  </a:srgbClr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04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66928" y="1993392"/>
            <a:ext cx="109728" cy="109728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2121408"/>
            <a:ext cx="36576" cy="777240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2057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Produto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Proposta de Valor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86384" y="309067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entregue, como funciona na prática e o que torna esse trabalho genuinamente insubstituível.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300" kern="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347472" y="566928"/>
            <a:ext cx="4133088" cy="4315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566928"/>
            <a:ext cx="4133088" cy="36576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768096"/>
            <a:ext cx="256032" cy="256032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768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Q09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8640" y="1133856"/>
            <a:ext cx="3730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C282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Descreva o que você faz como se estivesse explicando para alguém completamente fora do seu mercado — sem jargão.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3730752" cy="0"/>
          </a:xfrm>
          <a:prstGeom prst="line">
            <a:avLst/>
          </a:prstGeom>
          <a:noFill/>
          <a:ln w="9525">
            <a:solidFill>
              <a:srgbClr val="D8D2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15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EXPLORAR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3730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capacidade de explicar sem jargão revela domínio real do assunto e é a base para conteúdo educativo de grande alcance. Se não consegue explicar simplesmente, é sinal de que o posicionamento ainda precisa de trabalho — o problema está na clareza, não no cliente.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64608" y="566928"/>
            <a:ext cx="4133088" cy="4315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64608" y="566928"/>
            <a:ext cx="4133088" cy="36576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14" name="Shape 12"/>
          <p:cNvSpPr/>
          <p:nvPr/>
        </p:nvSpPr>
        <p:spPr>
          <a:xfrm>
            <a:off x="5065776" y="768096"/>
            <a:ext cx="256032" cy="256032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15" name="Text 13"/>
          <p:cNvSpPr/>
          <p:nvPr/>
        </p:nvSpPr>
        <p:spPr>
          <a:xfrm>
            <a:off x="5065776" y="768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65776" y="1133856"/>
            <a:ext cx="3730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C282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Qual é o resultado mais transformador que um cliente seu já alcançou? Como aconteceu exatamente?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65776" y="2487168"/>
            <a:ext cx="3730752" cy="0"/>
          </a:xfrm>
          <a:prstGeom prst="line">
            <a:avLst/>
          </a:prstGeom>
          <a:noFill/>
          <a:ln w="9525">
            <a:solidFill>
              <a:srgbClr val="D8D2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65776" y="2615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EXPLORAR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5065776" y="2834640"/>
            <a:ext cx="3730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concretos com contexto e processo são o conteúdo de maior conversão no LinkedIn. 'Como aconteceu exatamente' é a pergunta que transforma um resultado em uma história com lição replicável. Registrar com números sempre que possível.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300" kern="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347472" y="566928"/>
            <a:ext cx="4133088" cy="4315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566928"/>
            <a:ext cx="4133088" cy="36576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768096"/>
            <a:ext cx="256032" cy="256032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768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8640" y="1133856"/>
            <a:ext cx="3730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C282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 que você faz que nenhum concorrente faz, mesmo que pareça simples ou óbvio para você?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3730752" cy="0"/>
          </a:xfrm>
          <a:prstGeom prst="line">
            <a:avLst/>
          </a:prstGeom>
          <a:noFill/>
          <a:ln w="9525">
            <a:solidFill>
              <a:srgbClr val="D8D2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15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EXPLORAR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3730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maiores diferenciais geralmente parecem óbvios para quem os tem — é a maldição do conhecimento. O que parece trivial para o cliente é frequentemente o que mais importa para a audiência. Não deixar essa resposta vaga: pedir exemplos concretos.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64608" y="566928"/>
            <a:ext cx="4133088" cy="4315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64608" y="566928"/>
            <a:ext cx="4133088" cy="36576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14" name="Shape 12"/>
          <p:cNvSpPr/>
          <p:nvPr/>
        </p:nvSpPr>
        <p:spPr>
          <a:xfrm>
            <a:off x="5065776" y="768096"/>
            <a:ext cx="256032" cy="256032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15" name="Text 13"/>
          <p:cNvSpPr/>
          <p:nvPr/>
        </p:nvSpPr>
        <p:spPr>
          <a:xfrm>
            <a:off x="5065776" y="768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65776" y="1133856"/>
            <a:ext cx="3730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C282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Qual é o problema central que você resolve — e por que esse problema existe no mercado?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65776" y="2487168"/>
            <a:ext cx="3730752" cy="0"/>
          </a:xfrm>
          <a:prstGeom prst="line">
            <a:avLst/>
          </a:prstGeom>
          <a:noFill/>
          <a:ln w="9525">
            <a:solidFill>
              <a:srgbClr val="D8D2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65776" y="2615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EXPLORAR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5065776" y="2834640"/>
            <a:ext cx="3730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explicação de 'por que esse problema existe' é um post de autoridade completo. Revela diagnóstico de mercado, perspectiva única e profundidade de entendimento. Quem entende a causa, não só o sintoma, é referência. Registrar o raciocínio completo.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-54864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FFFFFF">
                    <a:alpha val="6000"/>
                  </a:srgbClr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05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66928" y="1993392"/>
            <a:ext cx="109728" cy="109728"/>
          </a:xfrm>
          <a:prstGeom prst="ellipse">
            <a:avLst/>
          </a:prstGeom>
          <a:solidFill>
            <a:srgbClr val="BF5A5A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2121408"/>
            <a:ext cx="36576" cy="777240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2057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B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Crenças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Posicionamento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86384" y="309067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opiniões contrárias ao senso comum são o motor de diferenciação e a fonte de memorabilidade da marca.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300" kern="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CRENÇAS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347472" y="566928"/>
            <a:ext cx="4133088" cy="4315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566928"/>
            <a:ext cx="4133088" cy="36576"/>
          </a:xfrm>
          <a:prstGeom prst="rect">
            <a:avLst/>
          </a:prstGeom>
          <a:solidFill>
            <a:srgbClr val="BF5A5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768096"/>
            <a:ext cx="256032" cy="256032"/>
          </a:xfrm>
          <a:prstGeom prst="ellipse">
            <a:avLst/>
          </a:prstGeom>
          <a:solidFill>
            <a:srgbClr val="BF5A5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768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8640" y="1133856"/>
            <a:ext cx="3730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C282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Qual é a crença mais polêmica que você tem sobre o seu mercado — aquela que muita gente discordaria?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3730752" cy="0"/>
          </a:xfrm>
          <a:prstGeom prst="line">
            <a:avLst/>
          </a:prstGeom>
          <a:noFill/>
          <a:ln w="9525">
            <a:solidFill>
              <a:srgbClr val="D8D2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15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B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EXPLORAR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3730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de opinião forte com fundamentação são o conteúdo que mais gera debate e novos seguidores. Quem não polariza nunca é lembrado. A crença polêmica bem argumentada é a diferença entre autoridade e anonimato. Registrar com o raciocínio — não só a conclusão.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64608" y="566928"/>
            <a:ext cx="4133088" cy="4315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64608" y="566928"/>
            <a:ext cx="4133088" cy="36576"/>
          </a:xfrm>
          <a:prstGeom prst="rect">
            <a:avLst/>
          </a:prstGeom>
          <a:solidFill>
            <a:srgbClr val="BF5A5A"/>
          </a:solidFill>
          <a:ln/>
        </p:spPr>
      </p:sp>
      <p:sp>
        <p:nvSpPr>
          <p:cNvPr id="14" name="Shape 12"/>
          <p:cNvSpPr/>
          <p:nvPr/>
        </p:nvSpPr>
        <p:spPr>
          <a:xfrm>
            <a:off x="5065776" y="768096"/>
            <a:ext cx="256032" cy="256032"/>
          </a:xfrm>
          <a:prstGeom prst="ellipse">
            <a:avLst/>
          </a:prstGeom>
          <a:solidFill>
            <a:srgbClr val="BF5A5A"/>
          </a:solidFill>
          <a:ln/>
        </p:spPr>
      </p:sp>
      <p:sp>
        <p:nvSpPr>
          <p:cNvPr id="15" name="Text 13"/>
          <p:cNvSpPr/>
          <p:nvPr/>
        </p:nvSpPr>
        <p:spPr>
          <a:xfrm>
            <a:off x="5065776" y="768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65776" y="1133856"/>
            <a:ext cx="3730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C282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Existe alguma 'verdade popular' no seu nicho que você considera um mito perigoso?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65776" y="2487168"/>
            <a:ext cx="3730752" cy="0"/>
          </a:xfrm>
          <a:prstGeom prst="line">
            <a:avLst/>
          </a:prstGeom>
          <a:noFill/>
          <a:ln w="9525">
            <a:solidFill>
              <a:srgbClr val="D8D2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65776" y="2615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B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EXPLORAR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5065776" y="2834640"/>
            <a:ext cx="3730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Desmistificar uma crença estabelecida é um dos formatos de maior alcance no LinkedIn. Funciona porque provoca curiosidade genuína e credencia o autor como alguém que pensa diferente. Cada mito é uma pauta de conteúdo completa.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300" kern="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CRENÇAS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347472" y="566928"/>
            <a:ext cx="4133088" cy="4315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566928"/>
            <a:ext cx="4133088" cy="36576"/>
          </a:xfrm>
          <a:prstGeom prst="rect">
            <a:avLst/>
          </a:prstGeom>
          <a:solidFill>
            <a:srgbClr val="BF5A5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768096"/>
            <a:ext cx="256032" cy="256032"/>
          </a:xfrm>
          <a:prstGeom prst="ellipse">
            <a:avLst/>
          </a:prstGeom>
          <a:solidFill>
            <a:srgbClr val="BF5A5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768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8640" y="1133856"/>
            <a:ext cx="3730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C282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 que as pessoas subestimam quando buscam o resultado que você entrega?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3730752" cy="0"/>
          </a:xfrm>
          <a:prstGeom prst="line">
            <a:avLst/>
          </a:prstGeom>
          <a:noFill/>
          <a:ln w="9525">
            <a:solidFill>
              <a:srgbClr val="D8D2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15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B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EXPLORAR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3730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subestimado revela a lacuna entre expectativa e realidade — é o argumento central do conteúdo de qualificação de cliente. Essa resposta é o anti-hype: honestidade sobre o que realmente é preciso para ter resultado. Qualifica antes do contato comercial.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64608" y="566928"/>
            <a:ext cx="4133088" cy="4315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64608" y="566928"/>
            <a:ext cx="4133088" cy="36576"/>
          </a:xfrm>
          <a:prstGeom prst="rect">
            <a:avLst/>
          </a:prstGeom>
          <a:solidFill>
            <a:srgbClr val="BF5A5A"/>
          </a:solidFill>
          <a:ln/>
        </p:spPr>
      </p:sp>
      <p:sp>
        <p:nvSpPr>
          <p:cNvPr id="14" name="Shape 12"/>
          <p:cNvSpPr/>
          <p:nvPr/>
        </p:nvSpPr>
        <p:spPr>
          <a:xfrm>
            <a:off x="5065776" y="768096"/>
            <a:ext cx="256032" cy="256032"/>
          </a:xfrm>
          <a:prstGeom prst="ellipse">
            <a:avLst/>
          </a:prstGeom>
          <a:solidFill>
            <a:srgbClr val="BF5A5A"/>
          </a:solidFill>
          <a:ln/>
        </p:spPr>
      </p:sp>
      <p:sp>
        <p:nvSpPr>
          <p:cNvPr id="15" name="Text 13"/>
          <p:cNvSpPr/>
          <p:nvPr/>
        </p:nvSpPr>
        <p:spPr>
          <a:xfrm>
            <a:off x="5065776" y="768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65776" y="1133856"/>
            <a:ext cx="3730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C282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Qual é a coisa mais importante que você quer que as pessoas entendam sobre o que faz — e que poucas realmente entendem?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65776" y="2487168"/>
            <a:ext cx="3730752" cy="0"/>
          </a:xfrm>
          <a:prstGeom prst="line">
            <a:avLst/>
          </a:prstGeom>
          <a:noFill/>
          <a:ln w="9525">
            <a:solidFill>
              <a:srgbClr val="D8D2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65776" y="2615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B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EXPLORAR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5065776" y="2834640"/>
            <a:ext cx="3730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é a lacuna de percepção central da marca pessoal: o gap entre o que entrega e o que o mercado percebe que entrega. Fechar esse gap é o trabalho central do conteúdo. A resposta aqui é o manifesto da marca — o post de posicionamento mais importante.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300" kern="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CRENÇAS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347472" y="301752"/>
            <a:ext cx="256032" cy="256032"/>
          </a:xfrm>
          <a:prstGeom prst="ellipse">
            <a:avLst/>
          </a:prstGeom>
          <a:solidFill>
            <a:srgbClr val="BF5A5A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301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84048" y="749808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2C282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 que você acredita que vai mudar radicalmente no seu mercado nos próximos 5 anos — e por quê?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84048" y="2359152"/>
            <a:ext cx="8321040" cy="0"/>
          </a:xfrm>
          <a:prstGeom prst="line">
            <a:avLst/>
          </a:prstGeom>
          <a:noFill/>
          <a:ln w="9525">
            <a:solidFill>
              <a:srgbClr val="D8D2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24871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B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EXPLORAR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724912"/>
            <a:ext cx="8321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Previsões de futuro com fundamentação são conteúdo de alto valor e baixa produção no LinkedIn. Quem arrisca uma visão de futuro e está certo se torna referência. Registrar os argumentos completos — não só a previsão, mas o raciocínio por trás dela.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84048" y="4041648"/>
            <a:ext cx="8321040" cy="713232"/>
          </a:xfrm>
          <a:prstGeom prst="rect">
            <a:avLst/>
          </a:prstGeom>
          <a:solidFill>
            <a:srgbClr val="EFECE6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4041648"/>
            <a:ext cx="36576" cy="713232"/>
          </a:xfrm>
          <a:prstGeom prst="rect">
            <a:avLst/>
          </a:prstGeom>
          <a:solidFill>
            <a:srgbClr val="BF5A5A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4133088"/>
            <a:ext cx="7973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Se a pessoa hesitar, pergunte: 'O que você vê acontecendo hoje que os outros ainda não perceberam que é uma tendência?' As sinalizações fracas de mercado que o especialista já capta são ouro para conteúdo de visão.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-54864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FFFFFF">
                    <a:alpha val="6000"/>
                  </a:srgbClr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06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66928" y="1993392"/>
            <a:ext cx="109728" cy="109728"/>
          </a:xfrm>
          <a:prstGeom prst="ellipse">
            <a:avLst/>
          </a:prstGeom>
          <a:solidFill>
            <a:srgbClr val="4E7A4E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2121408"/>
            <a:ext cx="36576" cy="777240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2057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4E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ICP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Objeções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86384" y="309067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além do perfil demográfico e chegar na psicologia do cliente ideal — o que o move, o que o trava, o que o converte.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300" kern="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347472" y="566928"/>
            <a:ext cx="4133088" cy="4315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566928"/>
            <a:ext cx="4133088" cy="36576"/>
          </a:xfrm>
          <a:prstGeom prst="rect">
            <a:avLst/>
          </a:prstGeom>
          <a:solidFill>
            <a:srgbClr val="4E7A4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768096"/>
            <a:ext cx="256032" cy="256032"/>
          </a:xfrm>
          <a:prstGeom prst="ellipse">
            <a:avLst/>
          </a:prstGeom>
          <a:solidFill>
            <a:srgbClr val="4E7A4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768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8640" y="1133856"/>
            <a:ext cx="3730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C282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Descreva o cliente dos seus sonhos — não pela idade ou renda, mas pela mentalidade e pelos valores.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3730752" cy="0"/>
          </a:xfrm>
          <a:prstGeom prst="line">
            <a:avLst/>
          </a:prstGeom>
          <a:noFill/>
          <a:ln w="9525">
            <a:solidFill>
              <a:srgbClr val="D8D2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15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4E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EXPLORAR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3730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mentalidade e os valores do ICP são o fundamento da segmentação por conteúdo. Um post que fala com os valores certos atrai o cliente certo independente do cargo ou setor. Isso é precisão de posicionamento — e é o que a maioria dos concorrentes não tem.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64608" y="566928"/>
            <a:ext cx="4133088" cy="4315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64608" y="566928"/>
            <a:ext cx="4133088" cy="36576"/>
          </a:xfrm>
          <a:prstGeom prst="rect">
            <a:avLst/>
          </a:prstGeom>
          <a:solidFill>
            <a:srgbClr val="4E7A4E"/>
          </a:solidFill>
          <a:ln/>
        </p:spPr>
      </p:sp>
      <p:sp>
        <p:nvSpPr>
          <p:cNvPr id="14" name="Shape 12"/>
          <p:cNvSpPr/>
          <p:nvPr/>
        </p:nvSpPr>
        <p:spPr>
          <a:xfrm>
            <a:off x="5065776" y="768096"/>
            <a:ext cx="256032" cy="256032"/>
          </a:xfrm>
          <a:prstGeom prst="ellipse">
            <a:avLst/>
          </a:prstGeom>
          <a:solidFill>
            <a:srgbClr val="4E7A4E"/>
          </a:solidFill>
          <a:ln/>
        </p:spPr>
      </p:sp>
      <p:sp>
        <p:nvSpPr>
          <p:cNvPr id="15" name="Text 13"/>
          <p:cNvSpPr/>
          <p:nvPr/>
        </p:nvSpPr>
        <p:spPr>
          <a:xfrm>
            <a:off x="5065776" y="768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65776" y="1133856"/>
            <a:ext cx="3730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C282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Qual é a maior dor que o seu cliente sente mas raramente consegue verbalizar?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65776" y="2487168"/>
            <a:ext cx="3730752" cy="0"/>
          </a:xfrm>
          <a:prstGeom prst="line">
            <a:avLst/>
          </a:prstGeom>
          <a:noFill/>
          <a:ln w="9525">
            <a:solidFill>
              <a:srgbClr val="D8D2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65776" y="2615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4E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EXPLORAR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5065776" y="2834640"/>
            <a:ext cx="3730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 não verbalizada é o insight mais valioso de toda a entrevista para criação de conteúdo. Quando o post nomeia essa dor, o cliente sente que foi entendido melhor do que ele mesmo se entende. Isso cria confiança imediata. Isso vende.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300" kern="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347472" y="566928"/>
            <a:ext cx="4133088" cy="4315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566928"/>
            <a:ext cx="4133088" cy="36576"/>
          </a:xfrm>
          <a:prstGeom prst="rect">
            <a:avLst/>
          </a:prstGeom>
          <a:solidFill>
            <a:srgbClr val="4E7A4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768096"/>
            <a:ext cx="256032" cy="256032"/>
          </a:xfrm>
          <a:prstGeom prst="ellipse">
            <a:avLst/>
          </a:prstGeom>
          <a:solidFill>
            <a:srgbClr val="4E7A4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768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8640" y="1133856"/>
            <a:ext cx="3730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C282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 onde você pega o cliente e para onde o conduz? Descreva o estado de entrada e o estado de saída.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3730752" cy="0"/>
          </a:xfrm>
          <a:prstGeom prst="line">
            <a:avLst/>
          </a:prstGeom>
          <a:noFill/>
          <a:ln w="9525">
            <a:solidFill>
              <a:srgbClr val="D8D2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15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4E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EXPLORAR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3730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 de valor: estado de entrada (dor, limitação, confusão) e estado de saída (resultado, clareza, transformação). Quanto mais concreto for esse caminho descrito — com números — mais preciso será o conteúdo de atração. Registrar as palavras exatas do cliente.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64608" y="566928"/>
            <a:ext cx="4133088" cy="4315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64608" y="566928"/>
            <a:ext cx="4133088" cy="36576"/>
          </a:xfrm>
          <a:prstGeom prst="rect">
            <a:avLst/>
          </a:prstGeom>
          <a:solidFill>
            <a:srgbClr val="4E7A4E"/>
          </a:solidFill>
          <a:ln/>
        </p:spPr>
      </p:sp>
      <p:sp>
        <p:nvSpPr>
          <p:cNvPr id="14" name="Shape 12"/>
          <p:cNvSpPr/>
          <p:nvPr/>
        </p:nvSpPr>
        <p:spPr>
          <a:xfrm>
            <a:off x="5065776" y="768096"/>
            <a:ext cx="256032" cy="256032"/>
          </a:xfrm>
          <a:prstGeom prst="ellipse">
            <a:avLst/>
          </a:prstGeom>
          <a:solidFill>
            <a:srgbClr val="4E7A4E"/>
          </a:solidFill>
          <a:ln/>
        </p:spPr>
      </p:sp>
      <p:sp>
        <p:nvSpPr>
          <p:cNvPr id="15" name="Text 13"/>
          <p:cNvSpPr/>
          <p:nvPr/>
        </p:nvSpPr>
        <p:spPr>
          <a:xfrm>
            <a:off x="5065776" y="768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Q21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65776" y="1133856"/>
            <a:ext cx="3730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C282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Qual é o seu rol de ofertas atual — e qual é a objeção mais comum antes de alguém te contratar?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65776" y="2487168"/>
            <a:ext cx="3730752" cy="0"/>
          </a:xfrm>
          <a:prstGeom prst="line">
            <a:avLst/>
          </a:prstGeom>
          <a:noFill/>
          <a:ln w="9525">
            <a:solidFill>
              <a:srgbClr val="D8D2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65776" y="2615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4E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EXPLORAR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5065776" y="2834640"/>
            <a:ext cx="3730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ofertas + objeção principal em conjunto revela o que já funciona na venda e o que o conteúdo precisa trabalhar. A objeção mais comum é a pauta número 1 de autoridade: respondida publicamente, vende sem vender e qualifica antes do primeiro contato.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300" kern="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347472" y="301752"/>
            <a:ext cx="256032" cy="256032"/>
          </a:xfrm>
          <a:prstGeom prst="ellipse">
            <a:avLst/>
          </a:prstGeom>
          <a:solidFill>
            <a:srgbClr val="4E7A4E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301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84048" y="749808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2C282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Existe algum tipo de cliente que você aprendeu a não atender mais? O que aconteceu para você chegar a essa conclusão?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84048" y="2359152"/>
            <a:ext cx="8321040" cy="0"/>
          </a:xfrm>
          <a:prstGeom prst="line">
            <a:avLst/>
          </a:prstGeom>
          <a:noFill/>
          <a:ln w="9525">
            <a:solidFill>
              <a:srgbClr val="D8D2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24871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4E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EXPLORAR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724912"/>
            <a:ext cx="8321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errado que foi atendido uma vez é uma das histórias mais ricas para definição de ICP e posicionamento. Revela valores, limites e o que realmente importa na relação de trabalho. É também o conteúdo que afasta proativamente quem não serve — economia de energia e tempo.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84048" y="4041648"/>
            <a:ext cx="8321040" cy="713232"/>
          </a:xfrm>
          <a:prstGeom prst="rect">
            <a:avLst/>
          </a:prstGeom>
          <a:solidFill>
            <a:srgbClr val="EFECE6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4041648"/>
            <a:ext cx="36576" cy="713232"/>
          </a:xfrm>
          <a:prstGeom prst="rect">
            <a:avLst/>
          </a:prstGeom>
          <a:solidFill>
            <a:srgbClr val="4E7A4E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4133088"/>
            <a:ext cx="7973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Pergunte: 'O que você sente no corpo quando percebe que um cliente em potencial está nesse perfil?' A resposta emocional é o dado mais útil para criar conteúdo de filtro de audiência.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0" y="-54864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FFFFFF">
                    <a:alpha val="6000"/>
                  </a:srgbClr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07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66928" y="1993392"/>
            <a:ext cx="109728" cy="109728"/>
          </a:xfrm>
          <a:prstGeom prst="ellipse">
            <a:avLst/>
          </a:prstGeom>
          <a:solidFill>
            <a:srgbClr val="7A6A8A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2121408"/>
            <a:ext cx="36576" cy="777240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2057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6384" y="2331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Tom de Voz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&amp; Legado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86384" y="309067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essa pessoa fala, o que a distingue na comunicação — e qual rastro quer deixar.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300" kern="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&amp; LEGADO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347472" y="566928"/>
            <a:ext cx="4133088" cy="4315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566928"/>
            <a:ext cx="4133088" cy="36576"/>
          </a:xfrm>
          <a:prstGeom prst="rect">
            <a:avLst/>
          </a:prstGeom>
          <a:solidFill>
            <a:srgbClr val="7A6A8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768096"/>
            <a:ext cx="256032" cy="256032"/>
          </a:xfrm>
          <a:prstGeom prst="ellipse">
            <a:avLst/>
          </a:prstGeom>
          <a:solidFill>
            <a:srgbClr val="7A6A8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768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Q23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8640" y="1133856"/>
            <a:ext cx="3730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C282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Como você descreveria seu estilo de comunicação? Quais palavras são muito suas — e quais você detesta no mercado?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3730752" cy="0"/>
          </a:xfrm>
          <a:prstGeom prst="line">
            <a:avLst/>
          </a:prstGeom>
          <a:noFill/>
          <a:ln w="9525">
            <a:solidFill>
              <a:srgbClr val="D8D2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15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7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EXPLORAR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3730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Tom, vocabulário e proibições em uma única pergunta. O que detesta no mercado define os limites de linguagem — evita que o cliente soe como todo mundo. Pedir pelo menos 3 palavras que usa muito e 3 que nunca usaria. Registrar tudo literalmente.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64608" y="566928"/>
            <a:ext cx="4133088" cy="4315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64608" y="566928"/>
            <a:ext cx="4133088" cy="36576"/>
          </a:xfrm>
          <a:prstGeom prst="rect">
            <a:avLst/>
          </a:prstGeom>
          <a:solidFill>
            <a:srgbClr val="7A6A8A"/>
          </a:solidFill>
          <a:ln/>
        </p:spPr>
      </p:sp>
      <p:sp>
        <p:nvSpPr>
          <p:cNvPr id="14" name="Shape 12"/>
          <p:cNvSpPr/>
          <p:nvPr/>
        </p:nvSpPr>
        <p:spPr>
          <a:xfrm>
            <a:off x="5065776" y="768096"/>
            <a:ext cx="256032" cy="256032"/>
          </a:xfrm>
          <a:prstGeom prst="ellipse">
            <a:avLst/>
          </a:prstGeom>
          <a:solidFill>
            <a:srgbClr val="7A6A8A"/>
          </a:solidFill>
          <a:ln/>
        </p:spPr>
      </p:sp>
      <p:sp>
        <p:nvSpPr>
          <p:cNvPr id="15" name="Text 13"/>
          <p:cNvSpPr/>
          <p:nvPr/>
        </p:nvSpPr>
        <p:spPr>
          <a:xfrm>
            <a:off x="5065776" y="768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Q24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65776" y="1133856"/>
            <a:ext cx="37307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C282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Se a sua marca fosse uma pessoa, como ela seria? Como falaria, se vestiria, onde seria vista, com quem andaria?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65776" y="2487168"/>
            <a:ext cx="3730752" cy="0"/>
          </a:xfrm>
          <a:prstGeom prst="line">
            <a:avLst/>
          </a:prstGeom>
          <a:noFill/>
          <a:ln w="9525">
            <a:solidFill>
              <a:srgbClr val="D8D2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65776" y="2615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300" kern="0" dirty="0">
                <a:solidFill>
                  <a:srgbClr val="7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EXPLORAR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5065776" y="2834640"/>
            <a:ext cx="37307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personificação da marca libera respostas que perguntas diretas não conseguem. Explore micro-escolhas reveladoras: 'Essa pessoa diria palavrão?' / 'Ela ri nas reuniões?' / 'Prefere Scotch ou Vinho?' / 'Usa LinkedIn ou Twitter?' As pequenas escolhas revelam o tom genuíno.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0" y="2926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300" kern="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&amp; LEGADO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347472" y="301752"/>
            <a:ext cx="256032" cy="256032"/>
          </a:xfrm>
          <a:prstGeom prst="ellipse">
            <a:avLst/>
          </a:prstGeom>
          <a:solidFill>
            <a:srgbClr val="7A6A8A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301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84048" y="749808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2C2825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Como você quer ser lembrado pelos seus clientes daqui a 20 anos — e qual é a sua missão real, não a que está no site, mas a que te faz continuar quando fica difícil?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384048" y="2359152"/>
            <a:ext cx="8321040" cy="0"/>
          </a:xfrm>
          <a:prstGeom prst="line">
            <a:avLst/>
          </a:prstGeom>
          <a:noFill/>
          <a:ln w="9525">
            <a:solidFill>
              <a:srgbClr val="D8D2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24871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7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EXPLORAR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2724912"/>
            <a:ext cx="8321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perguntas fundantes fundidas em uma. O legado ancora toda a estratégia de longo prazo e filtra o que faz ou não sentido publicar. A missão real é o combustível emocional da marca — quase sempre mais humana, mais específica e mais vulnerável do que qualquer missão declarada.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84048" y="4041648"/>
            <a:ext cx="8321040" cy="713232"/>
          </a:xfrm>
          <a:prstGeom prst="rect">
            <a:avLst/>
          </a:prstGeom>
          <a:solidFill>
            <a:srgbClr val="EFECE6"/>
          </a:solidFill>
          <a:ln/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4041648"/>
            <a:ext cx="36576" cy="713232"/>
          </a:xfrm>
          <a:prstGeom prst="rect">
            <a:avLst/>
          </a:prstGeom>
          <a:solidFill>
            <a:srgbClr val="7A6A8A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4133088"/>
            <a:ext cx="7973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i="1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Se a pessoa der respostas genéricas ('quero ajudar as pessoas'), pergunte: 'Ajudar as pessoas a fazer o quê especificamente — de uma forma que mais ninguém faz?' A especificidade é onde está o posicionamento.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BF9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PREMISSAS ESTRATÉGICAS DE CONTEÚDO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85216" y="822960"/>
            <a:ext cx="2487168" cy="3950208"/>
          </a:xfrm>
          <a:prstGeom prst="rect">
            <a:avLst/>
          </a:prstGeom>
          <a:solidFill>
            <a:srgbClr val="252119"/>
          </a:solidFill>
          <a:ln w="9525">
            <a:solidFill>
              <a:srgbClr val="2E2A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85216" y="822960"/>
            <a:ext cx="2487168" cy="36576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1024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F9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86384" y="1389888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Contexto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6384" y="2176272"/>
            <a:ext cx="2084832" cy="0"/>
          </a:xfrm>
          <a:prstGeom prst="line">
            <a:avLst/>
          </a:prstGeom>
          <a:noFill/>
          <a:ln w="9525">
            <a:solidFill>
              <a:srgbClr val="3330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331720"/>
            <a:ext cx="20848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organizado estrategicamente traz consistência à mensagem. Posicionar-se sobre temas atuais e relevantes aumenta as chances de notoriedade e autoridade.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28416" y="822960"/>
            <a:ext cx="2487168" cy="3950208"/>
          </a:xfrm>
          <a:prstGeom prst="rect">
            <a:avLst/>
          </a:prstGeom>
          <a:solidFill>
            <a:srgbClr val="252119"/>
          </a:solidFill>
          <a:ln w="9525">
            <a:solidFill>
              <a:srgbClr val="2E2A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28416" y="822960"/>
            <a:ext cx="2487168" cy="36576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11" name="Text 9"/>
          <p:cNvSpPr/>
          <p:nvPr/>
        </p:nvSpPr>
        <p:spPr>
          <a:xfrm>
            <a:off x="3529584" y="1024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F9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9584" y="1389888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Comportamento de Plataforma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29584" y="2176272"/>
            <a:ext cx="2084832" cy="0"/>
          </a:xfrm>
          <a:prstGeom prst="line">
            <a:avLst/>
          </a:prstGeom>
          <a:noFill/>
          <a:ln w="9525">
            <a:solidFill>
              <a:srgbClr val="3330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9584" y="2331720"/>
            <a:ext cx="20848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Conteúdos colaborativos amplificam alcance. Mencionar pessoas e empresas, compartilhar PDFs e notícias com seu ponto de vista maximiza interações orgânicas.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71616" y="822960"/>
            <a:ext cx="2487168" cy="3950208"/>
          </a:xfrm>
          <a:prstGeom prst="rect">
            <a:avLst/>
          </a:prstGeom>
          <a:solidFill>
            <a:srgbClr val="252119"/>
          </a:solidFill>
          <a:ln w="9525">
            <a:solidFill>
              <a:srgbClr val="2E2A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822960"/>
            <a:ext cx="2487168" cy="36576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17" name="Text 15"/>
          <p:cNvSpPr/>
          <p:nvPr/>
        </p:nvSpPr>
        <p:spPr>
          <a:xfrm>
            <a:off x="6272784" y="1024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F9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72784" y="1389888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Identidade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72784" y="2176272"/>
            <a:ext cx="2084832" cy="0"/>
          </a:xfrm>
          <a:prstGeom prst="line">
            <a:avLst/>
          </a:prstGeom>
          <a:noFill/>
          <a:ln w="9525">
            <a:solidFill>
              <a:srgbClr val="3330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2331720"/>
            <a:ext cx="20848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é construída por volume (recorrência), qualidade (consistência) e propósito (direcionamento). Começar, não parar e ter foco criam marcas duradouras.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BF9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ESTRATÉGICOS DA MARCA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85216" y="822960"/>
            <a:ext cx="2487168" cy="3950208"/>
          </a:xfrm>
          <a:prstGeom prst="rect">
            <a:avLst/>
          </a:prstGeom>
          <a:solidFill>
            <a:srgbClr val="252119"/>
          </a:solidFill>
          <a:ln w="9525">
            <a:solidFill>
              <a:srgbClr val="2E2A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85216" y="822960"/>
            <a:ext cx="2487168" cy="36576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1024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F9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86384" y="1389888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Desenho de Personalidade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6384" y="2176272"/>
            <a:ext cx="2084832" cy="0"/>
          </a:xfrm>
          <a:prstGeom prst="line">
            <a:avLst/>
          </a:prstGeom>
          <a:noFill/>
          <a:ln w="9525">
            <a:solidFill>
              <a:srgbClr val="3330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331720"/>
            <a:ext cx="20848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 visão pessoal e princípios que vão além da aplicação prática. Gerar identificação, proximidade e reciprocidade com a audiência-alvo.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28416" y="822960"/>
            <a:ext cx="2487168" cy="3950208"/>
          </a:xfrm>
          <a:prstGeom prst="rect">
            <a:avLst/>
          </a:prstGeom>
          <a:solidFill>
            <a:srgbClr val="252119"/>
          </a:solidFill>
          <a:ln w="9525">
            <a:solidFill>
              <a:srgbClr val="2E2A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28416" y="822960"/>
            <a:ext cx="2487168" cy="36576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11" name="Text 9"/>
          <p:cNvSpPr/>
          <p:nvPr/>
        </p:nvSpPr>
        <p:spPr>
          <a:xfrm>
            <a:off x="3529584" y="1024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F9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9584" y="1389888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Autoridade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29584" y="2176272"/>
            <a:ext cx="2084832" cy="0"/>
          </a:xfrm>
          <a:prstGeom prst="line">
            <a:avLst/>
          </a:prstGeom>
          <a:noFill/>
          <a:ln w="9525">
            <a:solidFill>
              <a:srgbClr val="3330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9584" y="2331720"/>
            <a:ext cx="20848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Elevar percepção de referência com tom colaborativo ou consultivo, dando ênfase aos diferenciais pessoais e ao ecossistema institucional.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71616" y="822960"/>
            <a:ext cx="2487168" cy="3950208"/>
          </a:xfrm>
          <a:prstGeom prst="rect">
            <a:avLst/>
          </a:prstGeom>
          <a:solidFill>
            <a:srgbClr val="252119"/>
          </a:solidFill>
          <a:ln w="9525">
            <a:solidFill>
              <a:srgbClr val="2E2A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822960"/>
            <a:ext cx="2487168" cy="36576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17" name="Text 15"/>
          <p:cNvSpPr/>
          <p:nvPr/>
        </p:nvSpPr>
        <p:spPr>
          <a:xfrm>
            <a:off x="6272784" y="1024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F9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72784" y="1389888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Oportunidade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72784" y="2176272"/>
            <a:ext cx="2084832" cy="0"/>
          </a:xfrm>
          <a:prstGeom prst="line">
            <a:avLst/>
          </a:prstGeom>
          <a:noFill/>
          <a:ln w="9525">
            <a:solidFill>
              <a:srgbClr val="3330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2331720"/>
            <a:ext cx="20848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recorrência e visibilidade e legitimar a visão como curador de informação em inovação, tecnologia, negócios, liderança e gestão.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BF9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CONTEÚDO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85216" y="822960"/>
            <a:ext cx="2487168" cy="3950208"/>
          </a:xfrm>
          <a:prstGeom prst="rect">
            <a:avLst/>
          </a:prstGeom>
          <a:solidFill>
            <a:srgbClr val="252119"/>
          </a:solidFill>
          <a:ln w="9525">
            <a:solidFill>
              <a:srgbClr val="2E2A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85216" y="822960"/>
            <a:ext cx="2487168" cy="36576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1024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F9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86384" y="1389888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Opinativo ou Consultivo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6384" y="2176272"/>
            <a:ext cx="2084832" cy="0"/>
          </a:xfrm>
          <a:prstGeom prst="line">
            <a:avLst/>
          </a:prstGeom>
          <a:noFill/>
          <a:ln w="9525">
            <a:solidFill>
              <a:srgbClr val="3330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331720"/>
            <a:ext cx="20848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ou apresentar uma opinião dentro dos pilares de conteúdo, posicionando-se ou provocando uma reflexão devidamente fundamentada.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28416" y="822960"/>
            <a:ext cx="2487168" cy="3950208"/>
          </a:xfrm>
          <a:prstGeom prst="rect">
            <a:avLst/>
          </a:prstGeom>
          <a:solidFill>
            <a:srgbClr val="252119"/>
          </a:solidFill>
          <a:ln w="9525">
            <a:solidFill>
              <a:srgbClr val="2E2A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28416" y="822960"/>
            <a:ext cx="2487168" cy="36576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11" name="Text 9"/>
          <p:cNvSpPr/>
          <p:nvPr/>
        </p:nvSpPr>
        <p:spPr>
          <a:xfrm>
            <a:off x="3529584" y="1024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F9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9584" y="1389888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Colaborativo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29584" y="2176272"/>
            <a:ext cx="2084832" cy="0"/>
          </a:xfrm>
          <a:prstGeom prst="line">
            <a:avLst/>
          </a:prstGeom>
          <a:noFill/>
          <a:ln w="9525">
            <a:solidFill>
              <a:srgbClr val="3330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9584" y="2331720"/>
            <a:ext cx="20848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Referendar, agradecer e trazer para perto pessoas e instituições que possam gerar ativos positivos espontâneos para os objetivos de marca.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71616" y="822960"/>
            <a:ext cx="2487168" cy="3950208"/>
          </a:xfrm>
          <a:prstGeom prst="rect">
            <a:avLst/>
          </a:prstGeom>
          <a:solidFill>
            <a:srgbClr val="252119"/>
          </a:solidFill>
          <a:ln w="9525">
            <a:solidFill>
              <a:srgbClr val="2E2A2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822960"/>
            <a:ext cx="2487168" cy="36576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17" name="Text 15"/>
          <p:cNvSpPr/>
          <p:nvPr/>
        </p:nvSpPr>
        <p:spPr>
          <a:xfrm>
            <a:off x="6272784" y="1024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F9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72784" y="1389888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Informativo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72784" y="2176272"/>
            <a:ext cx="2084832" cy="0"/>
          </a:xfrm>
          <a:prstGeom prst="line">
            <a:avLst/>
          </a:prstGeom>
          <a:noFill/>
          <a:ln w="9525">
            <a:solidFill>
              <a:srgbClr val="3330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2331720"/>
            <a:ext cx="20848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00" dirty="0">
                <a:solidFill>
                  <a:srgbClr val="B8B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Funcionar como canal de curadoria de informação qualificada, sempre com o ponto de vista do autor como elemento diferenciador.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175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BF9B5A"/>
          </a:solidFill>
          <a:ln/>
        </p:spPr>
      </p:sp>
      <p:sp>
        <p:nvSpPr>
          <p:cNvPr id="14" name="Shape 12"/>
          <p:cNvSpPr/>
          <p:nvPr/>
        </p:nvSpPr>
        <p:spPr>
          <a:xfrm>
            <a:off x="3163824" y="1143000"/>
            <a:ext cx="109728" cy="109728"/>
          </a:xfrm>
          <a:prstGeom prst="ellipse">
            <a:avLst/>
          </a:prstGeom>
          <a:solidFill>
            <a:srgbClr val="5A7BBF"/>
          </a:solidFill>
          <a:ln/>
        </p:spPr>
      </p:sp>
      <p:sp>
        <p:nvSpPr>
          <p:cNvPr id="15" name="Shape 13"/>
          <p:cNvSpPr/>
          <p:nvPr/>
        </p:nvSpPr>
        <p:spPr>
          <a:xfrm>
            <a:off x="3566160" y="1143000"/>
            <a:ext cx="109728" cy="109728"/>
          </a:xfrm>
          <a:prstGeom prst="ellipse">
            <a:avLst/>
          </a:prstGeom>
          <a:solidFill>
            <a:srgbClr val="A0673A"/>
          </a:solidFill>
          <a:ln/>
        </p:spPr>
      </p:sp>
      <p:sp>
        <p:nvSpPr>
          <p:cNvPr id="16" name="Shape 14"/>
          <p:cNvSpPr/>
          <p:nvPr/>
        </p:nvSpPr>
        <p:spPr>
          <a:xfrm>
            <a:off x="3968496" y="1143000"/>
            <a:ext cx="109728" cy="109728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17" name="Shape 15"/>
          <p:cNvSpPr/>
          <p:nvPr/>
        </p:nvSpPr>
        <p:spPr>
          <a:xfrm>
            <a:off x="4370832" y="1143000"/>
            <a:ext cx="109728" cy="109728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18" name="Shape 16"/>
          <p:cNvSpPr/>
          <p:nvPr/>
        </p:nvSpPr>
        <p:spPr>
          <a:xfrm>
            <a:off x="4773168" y="1143000"/>
            <a:ext cx="109728" cy="109728"/>
          </a:xfrm>
          <a:prstGeom prst="ellipse">
            <a:avLst/>
          </a:prstGeom>
          <a:solidFill>
            <a:srgbClr val="BF5A5A"/>
          </a:solidFill>
          <a:ln/>
        </p:spPr>
      </p:sp>
      <p:sp>
        <p:nvSpPr>
          <p:cNvPr id="19" name="Shape 17"/>
          <p:cNvSpPr/>
          <p:nvPr/>
        </p:nvSpPr>
        <p:spPr>
          <a:xfrm>
            <a:off x="5175504" y="1143000"/>
            <a:ext cx="109728" cy="109728"/>
          </a:xfrm>
          <a:prstGeom prst="ellipse">
            <a:avLst/>
          </a:prstGeom>
          <a:solidFill>
            <a:srgbClr val="4E7A4E"/>
          </a:solidFill>
          <a:ln/>
        </p:spPr>
      </p:sp>
      <p:sp>
        <p:nvSpPr>
          <p:cNvPr id="20" name="Shape 18"/>
          <p:cNvSpPr/>
          <p:nvPr/>
        </p:nvSpPr>
        <p:spPr>
          <a:xfrm>
            <a:off x="5577840" y="1143000"/>
            <a:ext cx="109728" cy="109728"/>
          </a:xfrm>
          <a:prstGeom prst="ellipse">
            <a:avLst/>
          </a:prstGeom>
          <a:solidFill>
            <a:srgbClr val="7A6A8A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14630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AGORA</a:t>
            </a:r>
            <a:endParaRPr lang="en-US" sz="8000" dirty="0"/>
          </a:p>
        </p:txBody>
      </p:sp>
      <p:sp>
        <p:nvSpPr>
          <p:cNvPr id="22" name="Text 20"/>
          <p:cNvSpPr/>
          <p:nvPr/>
        </p:nvSpPr>
        <p:spPr>
          <a:xfrm>
            <a:off x="594360" y="2880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BF9B5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é hora de construir.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3474720" y="3657600"/>
            <a:ext cx="2194560" cy="0"/>
          </a:xfrm>
          <a:prstGeom prst="line">
            <a:avLst/>
          </a:prstGeom>
          <a:noFill/>
          <a:ln w="6350">
            <a:solidFill>
              <a:srgbClr val="BF9B5A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382219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identidade de marca mais poderosa é a que é genuinamente sua.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Entrevista de Marca Pessoal — Versão Compacta</dc:title>
  <dc:subject>PptxGenJS Presentation</dc:subject>
  <dc:creator>PptxGenJS</dc:creator>
  <cp:lastModifiedBy>PptxGenJS</cp:lastModifiedBy>
  <cp:revision>1</cp:revision>
  <dcterms:created xsi:type="dcterms:W3CDTF">2026-03-23T12:55:00Z</dcterms:created>
  <dcterms:modified xsi:type="dcterms:W3CDTF">2026-03-23T12:55:00Z</dcterms:modified>
</cp:coreProperties>
</file>